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68" r:id="rId14"/>
    <p:sldId id="269" r:id="rId15"/>
    <p:sldId id="270" r:id="rId16"/>
    <p:sldId id="271" r:id="rId17"/>
    <p:sldId id="272" r:id="rId18"/>
    <p:sldId id="273"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5" d="100"/>
          <a:sy n="75" d="100"/>
        </p:scale>
        <p:origin x="32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AB5BC1-BFAE-4334-857A-B79952EF6E1F}"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AB5BC1-BFAE-4334-857A-B79952EF6E1F}"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0AB5BC1-BFAE-4334-857A-B79952EF6E1F}"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AB5BC1-BFAE-4334-857A-B79952EF6E1F}" type="datetimeFigureOut">
              <a:rPr lang="en-IN" smtClean="0"/>
              <a:t>19-03-2026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AB5BC1-BFAE-4334-857A-B79952EF6E1F}"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AB5BC1-BFAE-4334-857A-B79952EF6E1F}" type="datetimeFigureOut">
              <a:rPr lang="en-IN" smtClean="0"/>
              <a:t>19-03-2026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AB5BC1-BFAE-4334-857A-B79952EF6E1F}"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0AB5BC1-BFAE-4334-857A-B79952EF6E1F}"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0AB5BC1-BFAE-4334-857A-B79952EF6E1F}"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AB5BC1-BFAE-4334-857A-B79952EF6E1F}"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AB5BC1-BFAE-4334-857A-B79952EF6E1F}"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AB5BC1-BFAE-4334-857A-B79952EF6E1F}"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9A798-0F25-499D-A4FD-CA9ADB8DEEA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0AB5BC1-BFAE-4334-857A-B79952EF6E1F}" type="datetimeFigureOut">
              <a:rPr lang="en-IN" smtClean="0"/>
              <a:t>19-03-2026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459A798-0F25-499D-A4FD-CA9ADB8DEEA2}"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chemeClr val="bg2">
                    <a:lumMod val="60000"/>
                    <a:lumOff val="40000"/>
                  </a:schemeClr>
                </a:solidFill>
                <a:latin typeface="Arial Black" panose="020B0A04020102020204" pitchFamily="34" charset="0"/>
              </a:rPr>
              <a:t>GLOBAL WEATHER DATA ANALYSIS</a:t>
            </a:r>
            <a:endParaRPr lang="en-IN" dirty="0">
              <a:solidFill>
                <a:schemeClr val="bg2">
                  <a:lumMod val="60000"/>
                  <a:lumOff val="40000"/>
                </a:schemeClr>
              </a:solidFill>
              <a:latin typeface="Arial Black" panose="020B0A04020102020204" pitchFamily="34" charset="0"/>
            </a:endParaRPr>
          </a:p>
        </p:txBody>
      </p:sp>
      <p:sp>
        <p:nvSpPr>
          <p:cNvPr id="3" name="Subtitle 2"/>
          <p:cNvSpPr>
            <a:spLocks noGrp="1"/>
          </p:cNvSpPr>
          <p:nvPr>
            <p:ph type="subTitle" idx="1"/>
          </p:nvPr>
        </p:nvSpPr>
        <p:spPr/>
        <p:txBody>
          <a:bodyPr>
            <a:normAutofit fontScale="85000" lnSpcReduction="10000"/>
          </a:bodyPr>
          <a:lstStyle/>
          <a:p>
            <a:r>
              <a:rPr lang="en-US" dirty="0"/>
              <a:t>                                                                                       </a:t>
            </a:r>
          </a:p>
          <a:p>
            <a:r>
              <a:rPr lang="en-US" dirty="0"/>
              <a:t>                                                                                            Presented by:</a:t>
            </a:r>
          </a:p>
          <a:p>
            <a:r>
              <a:rPr lang="en-US" dirty="0"/>
              <a:t>                                                                                             </a:t>
            </a:r>
            <a:r>
              <a:rPr lang="en-US" sz="3000" dirty="0"/>
              <a:t>M. SRI SARANYA</a:t>
            </a:r>
            <a:endParaRPr lang="en-IN"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47650"/>
            <a:ext cx="10353761" cy="1114425"/>
          </a:xfrm>
        </p:spPr>
        <p:txBody>
          <a:bodyPr/>
          <a:lstStyle/>
          <a:p>
            <a:r>
              <a:rPr lang="en-US" dirty="0">
                <a:solidFill>
                  <a:schemeClr val="bg2">
                    <a:lumMod val="60000"/>
                    <a:lumOff val="40000"/>
                  </a:schemeClr>
                </a:solidFill>
              </a:rPr>
              <a:t>INTRODUCTION</a:t>
            </a:r>
            <a:endParaRPr lang="en-IN" dirty="0">
              <a:solidFill>
                <a:schemeClr val="bg2">
                  <a:lumMod val="60000"/>
                  <a:lumOff val="40000"/>
                </a:schemeClr>
              </a:solidFill>
            </a:endParaRPr>
          </a:p>
        </p:txBody>
      </p:sp>
      <p:sp>
        <p:nvSpPr>
          <p:cNvPr id="3" name="Content Placeholder 2"/>
          <p:cNvSpPr>
            <a:spLocks noGrp="1"/>
          </p:cNvSpPr>
          <p:nvPr>
            <p:ph idx="1"/>
          </p:nvPr>
        </p:nvSpPr>
        <p:spPr>
          <a:xfrm>
            <a:off x="913795" y="1609725"/>
            <a:ext cx="10353762" cy="4181475"/>
          </a:xfrm>
        </p:spPr>
        <p:txBody>
          <a:bodyPr>
            <a:noAutofit/>
          </a:bodyPr>
          <a:lstStyle/>
          <a:p>
            <a:pPr>
              <a:buFont typeface="Wingdings" panose="05000000000000000000" pitchFamily="2" charset="2"/>
              <a:buChar char="Ø"/>
            </a:pPr>
            <a:r>
              <a:rPr lang="en-US" sz="2400" dirty="0"/>
              <a:t>Weather data plays an important role in understanding climate patterns across different regions.</a:t>
            </a:r>
          </a:p>
          <a:p>
            <a:pPr>
              <a:buFont typeface="Wingdings" panose="05000000000000000000" pitchFamily="2" charset="2"/>
              <a:buChar char="Ø"/>
            </a:pPr>
            <a:r>
              <a:rPr lang="en-US" sz="2400" dirty="0"/>
              <a:t>This project focuses on analyzing global weather conditions.</a:t>
            </a:r>
          </a:p>
          <a:p>
            <a:pPr>
              <a:buFont typeface="Wingdings" panose="05000000000000000000" pitchFamily="2" charset="2"/>
              <a:buChar char="Ø"/>
            </a:pPr>
            <a:r>
              <a:rPr lang="en-US" sz="2400" dirty="0"/>
              <a:t>It includes key factors like temperature, humidity, wind speed, and precipitation.</a:t>
            </a:r>
          </a:p>
          <a:p>
            <a:pPr>
              <a:buFont typeface="Wingdings" panose="05000000000000000000" pitchFamily="2" charset="2"/>
              <a:buChar char="Ø"/>
            </a:pPr>
            <a:r>
              <a:rPr lang="en-US" sz="2400" dirty="0"/>
              <a:t>The analysis is performed using Power BI to create interactive visualizations.</a:t>
            </a:r>
          </a:p>
          <a:p>
            <a:pPr>
              <a:buFont typeface="Wingdings" panose="05000000000000000000" pitchFamily="2" charset="2"/>
              <a:buChar char="Ø"/>
            </a:pPr>
            <a:r>
              <a:rPr lang="en-US" sz="2400" dirty="0"/>
              <a:t>Helps in identifying trends and comparisons across countries and locations.</a:t>
            </a: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60000"/>
                    <a:lumOff val="40000"/>
                  </a:schemeClr>
                </a:solidFill>
              </a:rPr>
              <a:t>PROBLEM STATEMENT</a:t>
            </a:r>
            <a:endParaRPr lang="en-IN" dirty="0">
              <a:solidFill>
                <a:schemeClr val="bg2">
                  <a:lumMod val="60000"/>
                  <a:lumOff val="40000"/>
                </a:schemeClr>
              </a:solidFill>
            </a:endParaRPr>
          </a:p>
        </p:txBody>
      </p:sp>
      <p:sp>
        <p:nvSpPr>
          <p:cNvPr id="3" name="Content Placeholder 2"/>
          <p:cNvSpPr>
            <a:spLocks noGrp="1"/>
          </p:cNvSpPr>
          <p:nvPr>
            <p:ph idx="1"/>
          </p:nvPr>
        </p:nvSpPr>
        <p:spPr>
          <a:xfrm>
            <a:off x="913795" y="1935921"/>
            <a:ext cx="10353762" cy="3359979"/>
          </a:xfrm>
        </p:spPr>
        <p:txBody>
          <a:bodyPr>
            <a:noAutofit/>
          </a:bodyPr>
          <a:lstStyle/>
          <a:p>
            <a:pPr>
              <a:buFont typeface="Wingdings" panose="05000000000000000000" pitchFamily="2" charset="2"/>
              <a:buChar char="Ø"/>
            </a:pPr>
            <a:r>
              <a:rPr lang="en-US" sz="2400" dirty="0"/>
              <a:t>Weather data is large and complex to analyze manually</a:t>
            </a:r>
          </a:p>
          <a:p>
            <a:pPr>
              <a:buFont typeface="Wingdings" panose="05000000000000000000" pitchFamily="2" charset="2"/>
              <a:buChar char="Ø"/>
            </a:pPr>
            <a:r>
              <a:rPr lang="en-US" sz="2400" dirty="0"/>
              <a:t>It is difficult to identify patterns across different countries and locations</a:t>
            </a:r>
          </a:p>
          <a:p>
            <a:pPr>
              <a:buFont typeface="Wingdings" panose="05000000000000000000" pitchFamily="2" charset="2"/>
              <a:buChar char="Ø"/>
            </a:pPr>
            <a:r>
              <a:rPr lang="en-US" sz="2400" dirty="0"/>
              <a:t>Comparing temperature, humidity, wind speed, and precipitation is challenging</a:t>
            </a:r>
          </a:p>
          <a:p>
            <a:pPr>
              <a:buFont typeface="Wingdings" panose="05000000000000000000" pitchFamily="2" charset="2"/>
              <a:buChar char="Ø"/>
            </a:pPr>
            <a:r>
              <a:rPr lang="en-US" sz="2400" dirty="0"/>
              <a:t>There is a need for a visual and interactive approach to simplify analysis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295" y="295275"/>
            <a:ext cx="10353761" cy="1326321"/>
          </a:xfrm>
        </p:spPr>
        <p:txBody>
          <a:bodyPr/>
          <a:lstStyle/>
          <a:p>
            <a:r>
              <a:rPr lang="en-US" dirty="0">
                <a:solidFill>
                  <a:schemeClr val="bg2">
                    <a:lumMod val="60000"/>
                    <a:lumOff val="40000"/>
                  </a:schemeClr>
                </a:solidFill>
              </a:rPr>
              <a:t>BUSINESS PROBLEM</a:t>
            </a:r>
            <a:endParaRPr lang="en-IN" dirty="0">
              <a:solidFill>
                <a:schemeClr val="bg2">
                  <a:lumMod val="60000"/>
                  <a:lumOff val="40000"/>
                </a:schemeClr>
              </a:solidFill>
            </a:endParaRPr>
          </a:p>
        </p:txBody>
      </p:sp>
      <p:sp>
        <p:nvSpPr>
          <p:cNvPr id="3" name="Content Placeholder 2"/>
          <p:cNvSpPr>
            <a:spLocks noGrp="1"/>
          </p:cNvSpPr>
          <p:nvPr>
            <p:ph idx="1"/>
          </p:nvPr>
        </p:nvSpPr>
        <p:spPr>
          <a:xfrm>
            <a:off x="913795" y="1733550"/>
            <a:ext cx="10353762" cy="4057650"/>
          </a:xfrm>
        </p:spPr>
        <p:txBody>
          <a:bodyPr>
            <a:normAutofit/>
          </a:bodyPr>
          <a:lstStyle/>
          <a:p>
            <a:pPr marL="457200" lvl="0" indent="-457200">
              <a:buFont typeface="+mj-lt"/>
              <a:buAutoNum type="arabicPeriod"/>
            </a:pPr>
            <a:r>
              <a:rPr lang="en-IN" dirty="0">
                <a:effectLst/>
              </a:rPr>
              <a:t>Which country has the highest average temperature?</a:t>
            </a:r>
          </a:p>
          <a:p>
            <a:pPr marL="457200" lvl="0" indent="-457200">
              <a:buFont typeface="+mj-lt"/>
              <a:buAutoNum type="arabicPeriod"/>
            </a:pPr>
            <a:r>
              <a:rPr lang="en-IN" dirty="0">
                <a:effectLst/>
              </a:rPr>
              <a:t>Which locations have the highest average humidity levels?</a:t>
            </a:r>
          </a:p>
          <a:p>
            <a:pPr marL="457200" lvl="0" indent="-457200">
              <a:buFont typeface="+mj-lt"/>
              <a:buAutoNum type="arabicPeriod"/>
            </a:pPr>
            <a:r>
              <a:rPr lang="en-IN" dirty="0">
                <a:effectLst/>
              </a:rPr>
              <a:t>Which countries experience the highest wind speeds?</a:t>
            </a:r>
          </a:p>
          <a:p>
            <a:pPr marL="457200" lvl="0" indent="-457200">
              <a:buFont typeface="+mj-lt"/>
              <a:buAutoNum type="arabicPeriod"/>
            </a:pPr>
            <a:r>
              <a:rPr lang="en-IN" dirty="0">
                <a:effectLst/>
              </a:rPr>
              <a:t>Which country records the highest total rainfall (precipitation)?</a:t>
            </a:r>
          </a:p>
          <a:p>
            <a:pPr marL="457200" lvl="0" indent="-457200">
              <a:buFont typeface="+mj-lt"/>
              <a:buAutoNum type="arabicPeriod"/>
            </a:pPr>
            <a:r>
              <a:rPr lang="en-IN" dirty="0">
                <a:effectLst/>
              </a:rPr>
              <a:t>Which locations have the highest temperature?</a:t>
            </a:r>
          </a:p>
          <a:p>
            <a:pPr marL="457200" lvl="0" indent="-457200">
              <a:buFont typeface="+mj-lt"/>
              <a:buAutoNum type="arabicPeriod"/>
            </a:pPr>
            <a:r>
              <a:rPr lang="en-IN" dirty="0">
                <a:effectLst/>
              </a:rPr>
              <a:t>What is the percentage distribution of humidity by country?</a:t>
            </a:r>
          </a:p>
          <a:p>
            <a:pPr marL="457200" lvl="0" indent="-457200">
              <a:buFont typeface="+mj-lt"/>
              <a:buAutoNum type="arabicPeriod"/>
            </a:pPr>
            <a:r>
              <a:rPr lang="en-IN" dirty="0">
                <a:effectLst/>
              </a:rPr>
              <a:t>How does wind speed vary across different locations?</a:t>
            </a:r>
          </a:p>
          <a:p>
            <a:pPr marL="457200" lvl="0" indent="-457200">
              <a:buFont typeface="+mj-lt"/>
              <a:buAutoNum type="arabicPeriod"/>
            </a:pPr>
            <a:r>
              <a:rPr lang="en-IN" dirty="0">
                <a:effectLst/>
              </a:rPr>
              <a:t>How does precipitation differ between locations?</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609600"/>
            <a:ext cx="10353675" cy="887095"/>
          </a:xfrm>
        </p:spPr>
        <p:txBody>
          <a:bodyPr/>
          <a:lstStyle/>
          <a:p>
            <a:r>
              <a:rPr lang="en-US" dirty="0">
                <a:solidFill>
                  <a:schemeClr val="bg2">
                    <a:lumMod val="60000"/>
                    <a:lumOff val="40000"/>
                  </a:schemeClr>
                </a:solidFill>
              </a:rPr>
              <a:t>DATA OVERVIEW</a:t>
            </a:r>
            <a:endParaRPr lang="en-IN" dirty="0">
              <a:solidFill>
                <a:schemeClr val="bg2">
                  <a:lumMod val="60000"/>
                  <a:lumOff val="40000"/>
                </a:schemeClr>
              </a:solidFill>
            </a:endParaRPr>
          </a:p>
        </p:txBody>
      </p:sp>
      <p:sp>
        <p:nvSpPr>
          <p:cNvPr id="6" name="Rectangle 3"/>
          <p:cNvSpPr>
            <a:spLocks noGrp="1" noChangeArrowheads="1"/>
          </p:cNvSpPr>
          <p:nvPr>
            <p:ph idx="1"/>
          </p:nvPr>
        </p:nvSpPr>
        <p:spPr bwMode="auto">
          <a:xfrm>
            <a:off x="913765" y="1427480"/>
            <a:ext cx="10706735" cy="5069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Weather ID                                  </a:t>
            </a:r>
            <a:r>
              <a:rPr kumimoji="0" lang="en-US" altLang="en-US" sz="2800" b="0" i="0" u="none" strike="noStrike" cap="none" normalizeH="0" baseline="0" dirty="0">
                <a:ln>
                  <a:noFill/>
                </a:ln>
                <a:solidFill>
                  <a:schemeClr val="tx1"/>
                </a:solidFill>
                <a:effectLst/>
              </a:rPr>
              <a:t>– Unique identifier (Primary Key)</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Country                                       </a:t>
            </a:r>
            <a:r>
              <a:rPr kumimoji="0" lang="en-US" altLang="en-US" sz="2800" b="0" i="0" u="none" strike="noStrike" cap="none" normalizeH="0" baseline="0" dirty="0">
                <a:ln>
                  <a:noFill/>
                </a:ln>
                <a:solidFill>
                  <a:schemeClr val="tx1"/>
                </a:solidFill>
                <a:effectLst/>
              </a:rPr>
              <a:t> – Name of the country</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Location Name</a:t>
            </a:r>
            <a:r>
              <a:rPr kumimoji="0" lang="en-US" altLang="en-US" sz="2800" b="0" i="0" u="none" strike="noStrike" cap="none" normalizeH="0" baseline="0" dirty="0">
                <a:ln>
                  <a:noFill/>
                </a:ln>
                <a:solidFill>
                  <a:schemeClr val="tx1"/>
                </a:solidFill>
                <a:effectLst/>
              </a:rPr>
              <a:t>                          </a:t>
            </a:r>
            <a:r>
              <a:rPr lang="en-US" altLang="en-US" sz="2800" dirty="0">
                <a:ln>
                  <a:noFill/>
                </a:ln>
                <a:effectLst/>
                <a:sym typeface="+mn-ea"/>
              </a:rPr>
              <a:t>–</a:t>
            </a:r>
            <a:r>
              <a:rPr kumimoji="0" lang="en-US" altLang="en-US" sz="2800" b="0" i="0" u="none" strike="noStrike" cap="none" normalizeH="0" baseline="0" dirty="0">
                <a:ln>
                  <a:noFill/>
                </a:ln>
                <a:solidFill>
                  <a:schemeClr val="tx1"/>
                </a:solidFill>
                <a:effectLst/>
              </a:rPr>
              <a:t> City or station</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Latitude</a:t>
            </a:r>
            <a:r>
              <a:rPr kumimoji="0" lang="en-US" altLang="en-US" sz="2800" b="0" i="0" u="none" strike="noStrike" cap="none" normalizeH="0" baseline="0" dirty="0">
                <a:ln>
                  <a:noFill/>
                </a:ln>
                <a:solidFill>
                  <a:schemeClr val="tx1"/>
                </a:solidFill>
                <a:effectLst/>
              </a:rPr>
              <a:t>                                        – Geographic latitude</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Longitude</a:t>
            </a:r>
            <a:r>
              <a:rPr kumimoji="0" lang="en-US" altLang="en-US" sz="2800" b="0" i="0" u="none" strike="noStrike" cap="none" normalizeH="0" baseline="0" dirty="0">
                <a:ln>
                  <a:noFill/>
                </a:ln>
                <a:solidFill>
                  <a:schemeClr val="tx1"/>
                </a:solidFill>
                <a:effectLst/>
              </a:rPr>
              <a:t>                                    – Geographic longitude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Temperature Celsius               </a:t>
            </a:r>
            <a:r>
              <a:rPr kumimoji="0" lang="en-US" altLang="en-US" sz="2800" b="0" i="0" u="none" strike="noStrike" cap="none" normalizeH="0" baseline="0" dirty="0">
                <a:ln>
                  <a:noFill/>
                </a:ln>
                <a:solidFill>
                  <a:schemeClr val="tx1"/>
                </a:solidFill>
                <a:effectLst/>
              </a:rPr>
              <a:t>– Temperature in °C</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Humidity                                    </a:t>
            </a:r>
            <a:r>
              <a:rPr kumimoji="0" lang="en-US" altLang="en-US" sz="2800" b="0" i="0" u="none" strike="noStrike" cap="none" normalizeH="0" baseline="0" dirty="0">
                <a:ln>
                  <a:noFill/>
                </a:ln>
                <a:solidFill>
                  <a:schemeClr val="tx1"/>
                </a:solidFill>
                <a:effectLst/>
              </a:rPr>
              <a:t>  – Relative humidity (%)</a:t>
            </a: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Wind kph                                      </a:t>
            </a:r>
            <a:r>
              <a:rPr kumimoji="0" lang="en-US" altLang="en-US" sz="2800" b="0" i="0" u="none" strike="noStrike" cap="none" normalizeH="0" baseline="0" dirty="0">
                <a:ln>
                  <a:noFill/>
                </a:ln>
                <a:solidFill>
                  <a:schemeClr val="tx1"/>
                </a:solidFill>
                <a:effectLst/>
              </a:rPr>
              <a:t>– Wind speed in kph</a:t>
            </a:r>
          </a:p>
          <a:p>
            <a:pPr marL="0" lvl="0" indent="0" eaLnBrk="0" fontAlgn="base" hangingPunct="0">
              <a:lnSpc>
                <a:spcPct val="100000"/>
              </a:lnSpc>
              <a:spcBef>
                <a:spcPct val="0"/>
              </a:spcBef>
              <a:spcAft>
                <a:spcPct val="0"/>
              </a:spcAft>
              <a:buFontTx/>
              <a:buChar char="•"/>
            </a:pPr>
            <a:r>
              <a:rPr lang="en-US" altLang="en-US" sz="2800" b="1" dirty="0">
                <a:effectLst/>
              </a:rPr>
              <a:t>Last updated                                 –</a:t>
            </a:r>
            <a:r>
              <a:rPr lang="en-US" altLang="en-US" sz="2800" dirty="0">
                <a:effectLst/>
              </a:rPr>
              <a:t>Data and time</a:t>
            </a:r>
            <a:endParaRPr kumimoji="0" lang="en-US" altLang="en-US" sz="280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rPr>
              <a:t>Precip mm</a:t>
            </a:r>
            <a:r>
              <a:rPr kumimoji="0" lang="en-US" altLang="en-US" sz="2800" b="0" i="0" u="none" strike="noStrike" cap="none" normalizeH="0" baseline="0" dirty="0">
                <a:ln>
                  <a:noFill/>
                </a:ln>
                <a:solidFill>
                  <a:schemeClr val="tx1"/>
                </a:solidFill>
                <a:effectLst/>
              </a:rPr>
              <a:t>                                    – Rainfall in mm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2">
                    <a:lumMod val="60000"/>
                    <a:lumOff val="40000"/>
                  </a:schemeClr>
                </a:solidFill>
              </a:rPr>
              <a:t>TECHNOLOGY USED</a:t>
            </a:r>
            <a:endParaRPr lang="en-IN" dirty="0">
              <a:solidFill>
                <a:schemeClr val="bg2">
                  <a:lumMod val="60000"/>
                  <a:lumOff val="40000"/>
                </a:schemeClr>
              </a:solidFill>
            </a:endParaRPr>
          </a:p>
        </p:txBody>
      </p:sp>
      <p:sp>
        <p:nvSpPr>
          <p:cNvPr id="3" name="Content Placeholder 2"/>
          <p:cNvSpPr>
            <a:spLocks noGrp="1"/>
          </p:cNvSpPr>
          <p:nvPr>
            <p:ph idx="1"/>
          </p:nvPr>
        </p:nvSpPr>
        <p:spPr>
          <a:xfrm>
            <a:off x="919480" y="1830070"/>
            <a:ext cx="10353675" cy="3961130"/>
          </a:xfrm>
        </p:spPr>
        <p:txBody>
          <a:bodyPr>
            <a:noAutofit/>
          </a:bodyPr>
          <a:lstStyle/>
          <a:p>
            <a:pPr marL="0" indent="0">
              <a:buNone/>
            </a:pPr>
            <a:r>
              <a:rPr lang="en-IN" sz="1900" b="1" dirty="0">
                <a:solidFill>
                  <a:schemeClr val="bg2">
                    <a:lumMod val="60000"/>
                    <a:lumOff val="40000"/>
                  </a:schemeClr>
                </a:solidFill>
              </a:rPr>
              <a:t>Data Source / Collection:</a:t>
            </a:r>
            <a:endParaRPr lang="en-IN" sz="1900" dirty="0">
              <a:solidFill>
                <a:schemeClr val="bg2">
                  <a:lumMod val="60000"/>
                  <a:lumOff val="40000"/>
                </a:schemeClr>
              </a:solidFill>
            </a:endParaRPr>
          </a:p>
          <a:p>
            <a:r>
              <a:rPr lang="en-IN" sz="1900" dirty="0"/>
              <a:t>Global Weather API / Open Data CSV</a:t>
            </a:r>
          </a:p>
          <a:p>
            <a:pPr marL="0" indent="0">
              <a:buNone/>
            </a:pPr>
            <a:r>
              <a:rPr lang="en-IN" sz="1900" b="1" dirty="0">
                <a:solidFill>
                  <a:schemeClr val="bg2">
                    <a:lumMod val="60000"/>
                    <a:lumOff val="40000"/>
                  </a:schemeClr>
                </a:solidFill>
              </a:rPr>
              <a:t>Data Cleaning &amp; Preparation:</a:t>
            </a:r>
            <a:endParaRPr lang="en-IN" sz="3635" dirty="0">
              <a:solidFill>
                <a:schemeClr val="bg2">
                  <a:lumMod val="60000"/>
                  <a:lumOff val="40000"/>
                </a:schemeClr>
              </a:solidFill>
            </a:endParaRPr>
          </a:p>
          <a:p>
            <a:r>
              <a:rPr lang="en-IN" sz="1900" b="1" dirty="0"/>
              <a:t>Power Query in Power BI</a:t>
            </a:r>
            <a:r>
              <a:rPr lang="en-IN" sz="1900" dirty="0"/>
              <a:t> (for cleaning missing values and formatting data)</a:t>
            </a:r>
          </a:p>
          <a:p>
            <a:pPr marL="0" indent="0">
              <a:buNone/>
            </a:pPr>
            <a:r>
              <a:rPr lang="en-IN" sz="1900" b="1" dirty="0">
                <a:solidFill>
                  <a:schemeClr val="bg2">
                    <a:lumMod val="60000"/>
                    <a:lumOff val="40000"/>
                  </a:schemeClr>
                </a:solidFill>
              </a:rPr>
              <a:t>Data Modelling &amp; Analysis:</a:t>
            </a:r>
            <a:endParaRPr lang="en-IN" sz="1900" dirty="0">
              <a:solidFill>
                <a:schemeClr val="bg2">
                  <a:lumMod val="60000"/>
                  <a:lumOff val="40000"/>
                </a:schemeClr>
              </a:solidFill>
            </a:endParaRPr>
          </a:p>
          <a:p>
            <a:r>
              <a:rPr lang="en-IN" sz="1900" b="1" dirty="0"/>
              <a:t>Power BI</a:t>
            </a:r>
            <a:r>
              <a:rPr lang="en-IN" sz="1900" dirty="0"/>
              <a:t> (creating dimensional tables, KPIs, and measures)</a:t>
            </a:r>
          </a:p>
          <a:p>
            <a:r>
              <a:rPr lang="en-IN" sz="1900" b="1" dirty="0"/>
              <a:t>DAX</a:t>
            </a:r>
            <a:r>
              <a:rPr lang="en-IN" sz="1900" dirty="0"/>
              <a:t> (for calculations like Average Temperature, Total Precipitation)</a:t>
            </a:r>
          </a:p>
          <a:p>
            <a:pPr marL="0" indent="0">
              <a:buNone/>
            </a:pPr>
            <a:r>
              <a:rPr lang="en-IN" sz="1900" b="1" dirty="0">
                <a:solidFill>
                  <a:schemeClr val="bg2">
                    <a:lumMod val="60000"/>
                    <a:lumOff val="40000"/>
                  </a:schemeClr>
                </a:solidFill>
              </a:rPr>
              <a:t>Data Visualization:</a:t>
            </a:r>
            <a:endParaRPr lang="en-IN" sz="1900" dirty="0">
              <a:solidFill>
                <a:schemeClr val="bg2">
                  <a:lumMod val="60000"/>
                  <a:lumOff val="40000"/>
                </a:schemeClr>
              </a:solidFill>
            </a:endParaRPr>
          </a:p>
          <a:p>
            <a:r>
              <a:rPr lang="en-IN" sz="1900" b="1" dirty="0"/>
              <a:t>Power BI Charts:</a:t>
            </a:r>
            <a:r>
              <a:rPr lang="en-IN" sz="1900" dirty="0"/>
              <a:t> Bar Chart, Column Chart, Cards, Slicers, line chart.</a:t>
            </a:r>
          </a:p>
          <a:p>
            <a:endParaRPr lang="en-IN"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1"/>
            <a:ext cx="10353761" cy="1009650"/>
          </a:xfrm>
        </p:spPr>
        <p:txBody>
          <a:bodyPr/>
          <a:lstStyle/>
          <a:p>
            <a:r>
              <a:rPr lang="en-US" dirty="0">
                <a:solidFill>
                  <a:schemeClr val="bg2">
                    <a:lumMod val="60000"/>
                    <a:lumOff val="40000"/>
                  </a:schemeClr>
                </a:solidFill>
              </a:rPr>
              <a:t>DATA MODELLING</a:t>
            </a:r>
            <a:endParaRPr lang="en-IN" dirty="0">
              <a:solidFill>
                <a:schemeClr val="bg2">
                  <a:lumMod val="60000"/>
                  <a:lumOff val="40000"/>
                </a:schemeClr>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5055" y="1743710"/>
            <a:ext cx="7492365" cy="432943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6325" y="581026"/>
            <a:ext cx="10191231" cy="704850"/>
          </a:xfrm>
        </p:spPr>
        <p:txBody>
          <a:bodyPr/>
          <a:lstStyle/>
          <a:p>
            <a:r>
              <a:rPr lang="en-US" dirty="0">
                <a:solidFill>
                  <a:schemeClr val="bg2">
                    <a:lumMod val="60000"/>
                    <a:lumOff val="40000"/>
                  </a:schemeClr>
                </a:solidFill>
              </a:rPr>
              <a:t>KPI (KEY PERFORMANCE INDICATORS)</a:t>
            </a:r>
            <a:endParaRPr lang="en-IN" dirty="0">
              <a:solidFill>
                <a:schemeClr val="bg2">
                  <a:lumMod val="60000"/>
                  <a:lumOff val="40000"/>
                </a:schemeClr>
              </a:solidFill>
            </a:endParaRPr>
          </a:p>
        </p:txBody>
      </p:sp>
      <p:sp>
        <p:nvSpPr>
          <p:cNvPr id="8" name="Rectangle 1"/>
          <p:cNvSpPr>
            <a:spLocks noGrp="1" noChangeArrowheads="1"/>
          </p:cNvSpPr>
          <p:nvPr>
            <p:ph idx="1"/>
          </p:nvPr>
        </p:nvSpPr>
        <p:spPr bwMode="auto">
          <a:xfrm>
            <a:off x="371476" y="1285380"/>
            <a:ext cx="10623093"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lvl="0"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bg2">
                    <a:lumMod val="60000"/>
                    <a:lumOff val="40000"/>
                  </a:schemeClr>
                </a:solidFill>
                <a:effectLst/>
              </a:rPr>
              <a:t>Average Temperature (°C)</a:t>
            </a:r>
            <a:br>
              <a:rPr kumimoji="0" lang="en-US" altLang="en-US" sz="2400" b="0" i="0" u="none" strike="noStrike" cap="none" normalizeH="0" baseline="0" dirty="0">
                <a:ln>
                  <a:noFill/>
                </a:ln>
                <a:solidFill>
                  <a:schemeClr val="bg2">
                    <a:lumMod val="60000"/>
                    <a:lumOff val="40000"/>
                  </a:schemeClr>
                </a:solidFill>
                <a:effectLst/>
              </a:rPr>
            </a:br>
            <a:r>
              <a:rPr kumimoji="0" lang="en-US" altLang="en-US" b="1" i="0" u="none" strike="noStrike" cap="none" normalizeH="0" baseline="0" dirty="0">
                <a:ln>
                  <a:noFill/>
                </a:ln>
                <a:solidFill>
                  <a:schemeClr val="tx1"/>
                </a:solidFill>
                <a:effectLst/>
              </a:rPr>
              <a:t>Measure:</a:t>
            </a:r>
            <a:r>
              <a:rPr lang="en-US" altLang="en-US" dirty="0">
                <a:effectLst/>
              </a:rPr>
              <a:t> = AVERAGE('Weather fact'[Temperature_Celsius])</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a:ln>
                  <a:noFill/>
                </a:ln>
                <a:solidFill>
                  <a:schemeClr val="tx1"/>
                </a:solidFill>
                <a:effectLst/>
              </a:rPr>
              <a:t>Visual Idea:</a:t>
            </a:r>
            <a:r>
              <a:rPr kumimoji="0" lang="en-US" altLang="en-US"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Card visual or Bar Chart showing the average temperature per country</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a:ln>
                  <a:noFill/>
                </a:ln>
                <a:solidFill>
                  <a:schemeClr val="tx1"/>
                </a:solidFill>
                <a:effectLst/>
              </a:rPr>
              <a:t>Insight:</a:t>
            </a:r>
            <a:r>
              <a:rPr kumimoji="0" lang="en-US" altLang="en-US"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Shows the typical temperature across locations.</a:t>
            </a: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endParaRPr>
          </a:p>
        </p:txBody>
      </p:sp>
      <p:sp>
        <p:nvSpPr>
          <p:cNvPr id="9" name="Rectangle 2"/>
          <p:cNvSpPr>
            <a:spLocks noChangeArrowheads="1"/>
          </p:cNvSpPr>
          <p:nvPr/>
        </p:nvSpPr>
        <p:spPr bwMode="auto">
          <a:xfrm>
            <a:off x="371476" y="2879575"/>
            <a:ext cx="1182052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r>
              <a:rPr kumimoji="0" lang="en-US" altLang="en-US" sz="2400" b="0" i="0" u="none" strike="noStrike" cap="none" normalizeH="0" baseline="0" dirty="0">
                <a:ln>
                  <a:noFill/>
                </a:ln>
                <a:solidFill>
                  <a:schemeClr val="bg2">
                    <a:lumMod val="60000"/>
                    <a:lumOff val="40000"/>
                  </a:schemeClr>
                </a:solidFill>
                <a:effectLst/>
              </a:rPr>
              <a:t>Highest Temperature Recorded</a:t>
            </a:r>
            <a:br>
              <a:rPr kumimoji="0" lang="en-US" altLang="en-US" sz="1800" b="0" i="0" u="none" strike="noStrike" cap="none" normalizeH="0" baseline="0" dirty="0">
                <a:ln>
                  <a:noFill/>
                </a:ln>
                <a:solidFill>
                  <a:schemeClr val="tx1"/>
                </a:solidFill>
                <a:effectLst/>
              </a:rPr>
            </a:br>
            <a:r>
              <a:rPr kumimoji="0" lang="en-US" altLang="en-US" sz="2000" b="1" i="0" u="none" strike="noStrike" cap="none" normalizeH="0" baseline="0" dirty="0">
                <a:ln>
                  <a:noFill/>
                </a:ln>
                <a:solidFill>
                  <a:schemeClr val="tx1"/>
                </a:solidFill>
                <a:effectLst/>
              </a:rPr>
              <a:t>Measure:</a:t>
            </a:r>
            <a:r>
              <a:rPr lang="en-US" altLang="en-US" dirty="0"/>
              <a:t> = </a:t>
            </a:r>
            <a:r>
              <a:rPr lang="en-US" altLang="en-US" sz="2000" dirty="0"/>
              <a:t>MAX('Weather fact'[Temperature_Celsius])</a:t>
            </a:r>
            <a:br>
              <a:rPr kumimoji="0" lang="en-US" altLang="en-US" sz="800" b="0" i="0" u="none" strike="noStrike" cap="none" normalizeH="0" baseline="0" dirty="0">
                <a:ln>
                  <a:noFill/>
                </a:ln>
                <a:solidFill>
                  <a:schemeClr val="tx1"/>
                </a:solidFill>
                <a:effectLst/>
              </a:rPr>
            </a:br>
            <a:r>
              <a:rPr kumimoji="0" lang="en-US" altLang="en-US" sz="2000" b="1" i="0" u="none" strike="noStrike" cap="none" normalizeH="0" baseline="0" dirty="0">
                <a:ln>
                  <a:noFill/>
                </a:ln>
                <a:solidFill>
                  <a:schemeClr val="tx1"/>
                </a:solidFill>
                <a:effectLst/>
              </a:rPr>
              <a:t>Visual Idea:</a:t>
            </a:r>
            <a:r>
              <a:rPr kumimoji="0" lang="en-US" altLang="en-US" sz="20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Card visual or Column Chart showing the highest temperature per location or country</a:t>
            </a:r>
            <a:br>
              <a:rPr kumimoji="0" lang="en-US" altLang="en-US" sz="1800" b="0" i="0" u="none" strike="noStrike" cap="none" normalizeH="0" baseline="0" dirty="0">
                <a:ln>
                  <a:noFill/>
                </a:ln>
                <a:solidFill>
                  <a:schemeClr val="tx1"/>
                </a:solidFill>
                <a:effectLst/>
              </a:rPr>
            </a:br>
            <a:r>
              <a:rPr kumimoji="0" lang="en-US" altLang="en-US" sz="2000" b="1" i="0" u="none" strike="noStrike" cap="none" normalizeH="0" baseline="0" dirty="0">
                <a:ln>
                  <a:noFill/>
                </a:ln>
                <a:solidFill>
                  <a:schemeClr val="tx1"/>
                </a:solidFill>
                <a:effectLst/>
              </a:rPr>
              <a:t>Insight:</a:t>
            </a:r>
            <a:r>
              <a:rPr kumimoji="0" lang="en-US" altLang="en-US" sz="20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Highlights the hottest location or country in the dataset</a:t>
            </a:r>
          </a:p>
        </p:txBody>
      </p:sp>
      <p:sp>
        <p:nvSpPr>
          <p:cNvPr id="10" name="Rectangle 3"/>
          <p:cNvSpPr>
            <a:spLocks noChangeArrowheads="1"/>
          </p:cNvSpPr>
          <p:nvPr/>
        </p:nvSpPr>
        <p:spPr bwMode="auto">
          <a:xfrm>
            <a:off x="371476" y="3525906"/>
            <a:ext cx="11267556" cy="2385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800" b="1" dirty="0"/>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kumimoji="0" lang="en-US" altLang="en-US" sz="2400" b="0" i="0" u="none" strike="noStrike" cap="none" normalizeH="0" baseline="0" dirty="0">
                <a:ln>
                  <a:noFill/>
                </a:ln>
                <a:solidFill>
                  <a:schemeClr val="bg2">
                    <a:lumMod val="60000"/>
                    <a:lumOff val="40000"/>
                  </a:schemeClr>
                </a:solidFill>
                <a:effectLst/>
              </a:rPr>
              <a:t>Average Humidity Level (%)</a:t>
            </a:r>
            <a:br>
              <a:rPr kumimoji="0" lang="en-US" altLang="en-US" sz="1800" b="0" i="0" u="none" strike="noStrike" cap="none" normalizeH="0" baseline="0" dirty="0">
                <a:ln>
                  <a:noFill/>
                </a:ln>
                <a:solidFill>
                  <a:schemeClr val="tx1"/>
                </a:solidFill>
                <a:effectLst/>
              </a:rPr>
            </a:br>
            <a:r>
              <a:rPr kumimoji="0" lang="en-US" altLang="en-US" sz="2000" b="1" i="0" u="none" strike="noStrike" cap="none" normalizeH="0" baseline="0" dirty="0">
                <a:ln>
                  <a:noFill/>
                </a:ln>
                <a:solidFill>
                  <a:schemeClr val="tx1"/>
                </a:solidFill>
                <a:effectLst/>
              </a:rPr>
              <a:t>Measure:</a:t>
            </a:r>
            <a:r>
              <a:rPr lang="en-US" altLang="en-US" sz="2000" dirty="0"/>
              <a:t> </a:t>
            </a:r>
            <a:r>
              <a:rPr lang="en-US" altLang="en-US" dirty="0"/>
              <a:t>= </a:t>
            </a:r>
            <a:r>
              <a:rPr lang="en-US" altLang="en-US" sz="2000" dirty="0"/>
              <a:t>AVERAGE('Weather fact'[Humidity])</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rPr>
              <a:t>Visual Idea: </a:t>
            </a:r>
            <a:r>
              <a:rPr kumimoji="0" lang="en-US" altLang="en-US" b="0" i="0" u="none" strike="noStrike" cap="none" normalizeH="0" baseline="0" dirty="0">
                <a:ln>
                  <a:noFill/>
                </a:ln>
                <a:solidFill>
                  <a:schemeClr val="tx1"/>
                </a:solidFill>
                <a:effectLst/>
              </a:rPr>
              <a:t>Card visual or Column Chart showing average humidity by location or country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rPr>
              <a:t>Insight:</a:t>
            </a:r>
            <a:r>
              <a:rPr kumimoji="0" lang="en-US" altLang="en-US" b="0" i="0" u="none" strike="noStrike" cap="none" normalizeH="0" baseline="0" dirty="0">
                <a:ln>
                  <a:noFill/>
                </a:ln>
                <a:solidFill>
                  <a:schemeClr val="tx1"/>
                </a:solidFill>
                <a:effectLst/>
              </a:rPr>
              <a:t> Identifies areas with high humidity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00025" y="-983524"/>
            <a:ext cx="10241915" cy="301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1800" dirty="0">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bg2">
                  <a:lumMod val="60000"/>
                  <a:lumOff val="40000"/>
                </a:schemeClr>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bg2">
                  <a:lumMod val="60000"/>
                  <a:lumOff val="40000"/>
                </a:schemeClr>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bg2">
                    <a:lumMod val="60000"/>
                    <a:lumOff val="40000"/>
                  </a:schemeClr>
                </a:solidFill>
                <a:effectLst/>
                <a:latin typeface="Arial" panose="020B0604020202020204" pitchFamily="34" charset="0"/>
              </a:rPr>
              <a:t>Average </a:t>
            </a:r>
            <a:r>
              <a:rPr kumimoji="0" lang="en-US" altLang="en-US" sz="2400" b="0" i="0" u="none" strike="noStrike" cap="none" normalizeH="0" baseline="0" dirty="0">
                <a:ln>
                  <a:noFill/>
                </a:ln>
                <a:solidFill>
                  <a:schemeClr val="bg2">
                    <a:lumMod val="60000"/>
                    <a:lumOff val="40000"/>
                  </a:schemeClr>
                </a:solidFill>
                <a:effectLst/>
              </a:rPr>
              <a:t>Wind</a:t>
            </a:r>
            <a:r>
              <a:rPr kumimoji="0" lang="en-US" altLang="en-US" sz="2400" b="0" i="0" u="none" strike="noStrike" cap="none" normalizeH="0" baseline="0" dirty="0">
                <a:ln>
                  <a:noFill/>
                </a:ln>
                <a:solidFill>
                  <a:schemeClr val="bg2">
                    <a:lumMod val="60000"/>
                    <a:lumOff val="40000"/>
                  </a:schemeClr>
                </a:solidFill>
                <a:effectLst/>
                <a:latin typeface="Arial" panose="020B0604020202020204" pitchFamily="34" charset="0"/>
              </a:rPr>
              <a:t> Speed (kph)</a:t>
            </a:r>
            <a:br>
              <a:rPr kumimoji="0" lang="en-US" altLang="en-US" sz="2400" b="0" i="0" u="none" strike="noStrike" cap="none" normalizeH="0" baseline="0" dirty="0">
                <a:ln>
                  <a:noFill/>
                </a:ln>
                <a:solidFill>
                  <a:schemeClr val="bg2">
                    <a:lumMod val="60000"/>
                    <a:lumOff val="40000"/>
                  </a:schemeClr>
                </a:solidFill>
                <a:effectLst/>
                <a:latin typeface="Arial" panose="020B0604020202020204" pitchFamily="34" charset="0"/>
              </a:rPr>
            </a:br>
            <a:r>
              <a:rPr kumimoji="0" lang="en-US" altLang="en-US" b="1" i="0" u="none" strike="noStrike" cap="none" normalizeH="0" baseline="0" dirty="0">
                <a:ln>
                  <a:noFill/>
                </a:ln>
                <a:solidFill>
                  <a:schemeClr val="tx1"/>
                </a:solidFill>
                <a:effectLst/>
              </a:rPr>
              <a:t>Measure:</a:t>
            </a:r>
            <a:r>
              <a:rPr lang="en-US" altLang="en-US" sz="2400" dirty="0">
                <a:effectLst/>
                <a:latin typeface="Arial" panose="020B0604020202020204" pitchFamily="34" charset="0"/>
              </a:rPr>
              <a:t>= </a:t>
            </a:r>
            <a:r>
              <a:rPr lang="en-US" altLang="en-US" dirty="0">
                <a:effectLst/>
              </a:rPr>
              <a:t>AVERAGE('Weather fact'[</a:t>
            </a:r>
            <a:r>
              <a:rPr lang="en-US" altLang="en-US" dirty="0" err="1">
                <a:effectLst/>
              </a:rPr>
              <a:t>Wind_kph</a:t>
            </a:r>
            <a:r>
              <a:rPr lang="en-US" altLang="en-US" dirty="0">
                <a:effectLst/>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rPr>
              <a:t>Visual Idea:</a:t>
            </a:r>
            <a:r>
              <a:rPr kumimoji="0" lang="en-US" altLang="en-US"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Card visual or Column Chart showing average wind speed by location or country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chemeClr val="tx1"/>
                </a:solidFill>
                <a:effectLst/>
              </a:rPr>
              <a:t>Insight: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Highlights regions with strong winds</a:t>
            </a:r>
          </a:p>
        </p:txBody>
      </p:sp>
      <p:sp>
        <p:nvSpPr>
          <p:cNvPr id="5" name="Rectangle 2"/>
          <p:cNvSpPr>
            <a:spLocks noChangeArrowheads="1"/>
          </p:cNvSpPr>
          <p:nvPr/>
        </p:nvSpPr>
        <p:spPr bwMode="auto">
          <a:xfrm>
            <a:off x="200025" y="1548448"/>
            <a:ext cx="12096750" cy="2122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pPr>
            <a:endParaRPr kumimoji="0" lang="en-US" altLang="en-US" sz="2400" i="0" u="none" strike="noStrike" cap="none" normalizeH="0" baseline="0" dirty="0">
              <a:ln>
                <a:noFill/>
              </a:ln>
              <a:solidFill>
                <a:schemeClr val="bg2">
                  <a:lumMod val="60000"/>
                  <a:lumOff val="40000"/>
                </a:schemeClr>
              </a:solidFill>
              <a:effectLst/>
            </a:endParaRPr>
          </a:p>
          <a:p>
            <a:pPr lvl="0" defTabSz="914400" eaLnBrk="0" fontAlgn="base" hangingPunct="0">
              <a:spcBef>
                <a:spcPct val="0"/>
              </a:spcBef>
              <a:spcAft>
                <a:spcPct val="0"/>
              </a:spcAft>
            </a:pPr>
            <a:endParaRPr kumimoji="0" lang="en-US" altLang="en-US" sz="2400" i="0" u="none" strike="noStrike" cap="none" normalizeH="0" baseline="0" dirty="0">
              <a:ln>
                <a:noFill/>
              </a:ln>
              <a:solidFill>
                <a:schemeClr val="bg2">
                  <a:lumMod val="60000"/>
                  <a:lumOff val="40000"/>
                </a:schemeClr>
              </a:solidFill>
              <a:effectLst/>
            </a:endParaRPr>
          </a:p>
          <a:p>
            <a:pPr lvl="0" defTabSz="914400" eaLnBrk="0" fontAlgn="base" hangingPunct="0">
              <a:spcBef>
                <a:spcPct val="0"/>
              </a:spcBef>
              <a:spcAft>
                <a:spcPct val="0"/>
              </a:spcAft>
            </a:pPr>
            <a:r>
              <a:rPr kumimoji="0" lang="en-US" altLang="en-US" sz="2400" i="0" u="none" strike="noStrike" cap="none" normalizeH="0" baseline="0" dirty="0">
                <a:ln>
                  <a:noFill/>
                </a:ln>
                <a:solidFill>
                  <a:schemeClr val="bg2">
                    <a:lumMod val="60000"/>
                    <a:lumOff val="40000"/>
                  </a:schemeClr>
                </a:solidFill>
                <a:effectLst/>
              </a:rPr>
              <a:t>Total Precipitation (mm)</a:t>
            </a:r>
            <a:br>
              <a:rPr kumimoji="0" lang="en-US" altLang="en-US" sz="2400" b="1" i="0" u="none" strike="noStrike" cap="none" normalizeH="0" baseline="0" dirty="0">
                <a:ln>
                  <a:noFill/>
                </a:ln>
                <a:solidFill>
                  <a:schemeClr val="tx1"/>
                </a:solidFill>
                <a:effectLst/>
              </a:rPr>
            </a:br>
            <a:r>
              <a:rPr lang="en-US" altLang="en-US" sz="2000" b="1" dirty="0"/>
              <a:t>Measure: = </a:t>
            </a:r>
            <a:r>
              <a:rPr lang="en-US" altLang="en-US" sz="2000" dirty="0"/>
              <a:t>SUM('Weather fact'[</a:t>
            </a:r>
            <a:r>
              <a:rPr lang="en-US" altLang="en-US" sz="2000" dirty="0" err="1"/>
              <a:t>Precip_mm</a:t>
            </a:r>
            <a:r>
              <a:rPr lang="en-US" altLang="en-US" sz="2000" dirty="0"/>
              <a:t>])</a:t>
            </a:r>
            <a:endParaRPr kumimoji="0" lang="en-US" altLang="en-US" sz="20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rPr>
              <a:t>Visual Idea:</a:t>
            </a:r>
            <a:r>
              <a:rPr kumimoji="0" lang="en-US" altLang="en-US" sz="2000"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Card visual or Column Chart showing total rainfall by location or country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rPr>
              <a:t>Insight: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Shows regions with the most rainfall and compares precipitation across locations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4271" y="4285210"/>
            <a:ext cx="8907118" cy="12479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361950"/>
            <a:ext cx="10353675" cy="504190"/>
          </a:xfrm>
        </p:spPr>
        <p:txBody>
          <a:bodyPr>
            <a:normAutofit fontScale="90000"/>
          </a:bodyPr>
          <a:lstStyle/>
          <a:p>
            <a:r>
              <a:rPr lang="en-US" dirty="0">
                <a:solidFill>
                  <a:schemeClr val="bg2">
                    <a:lumMod val="60000"/>
                    <a:lumOff val="40000"/>
                  </a:schemeClr>
                </a:solidFill>
              </a:rPr>
              <a:t>DASHBOARD OVERVIEW</a:t>
            </a:r>
            <a:endParaRPr lang="en-IN" dirty="0">
              <a:solidFill>
                <a:schemeClr val="bg2">
                  <a:lumMod val="60000"/>
                  <a:lumOff val="40000"/>
                </a:schemeClr>
              </a:solidFill>
            </a:endParaRPr>
          </a:p>
        </p:txBody>
      </p:sp>
      <p:pic>
        <p:nvPicPr>
          <p:cNvPr id="4" name="Content Placeholder 3" descr="Screenshot 2026-03-19 121258"/>
          <p:cNvPicPr>
            <a:picLocks noGrp="1" noChangeAspect="1"/>
          </p:cNvPicPr>
          <p:nvPr>
            <p:ph idx="1"/>
          </p:nvPr>
        </p:nvPicPr>
        <p:blipFill>
          <a:blip r:embed="rId2"/>
          <a:stretch>
            <a:fillRect/>
          </a:stretch>
        </p:blipFill>
        <p:spPr>
          <a:xfrm>
            <a:off x="1148715" y="1056640"/>
            <a:ext cx="9883140" cy="55772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14326"/>
            <a:ext cx="10353761" cy="1333499"/>
          </a:xfrm>
        </p:spPr>
        <p:txBody>
          <a:bodyPr/>
          <a:lstStyle/>
          <a:p>
            <a:r>
              <a:rPr lang="en-US" dirty="0">
                <a:solidFill>
                  <a:schemeClr val="bg2">
                    <a:lumMod val="60000"/>
                    <a:lumOff val="40000"/>
                  </a:schemeClr>
                </a:solidFill>
              </a:rPr>
              <a:t>GLOBAL WEATHER ANALYSIS</a:t>
            </a:r>
            <a:endParaRPr lang="en-IN" dirty="0">
              <a:solidFill>
                <a:schemeClr val="bg2">
                  <a:lumMod val="60000"/>
                  <a:lumOff val="40000"/>
                </a:schemeClr>
              </a:solidFill>
            </a:endParaRPr>
          </a:p>
        </p:txBody>
      </p:sp>
      <p:sp>
        <p:nvSpPr>
          <p:cNvPr id="3" name="Content Placeholder 2"/>
          <p:cNvSpPr>
            <a:spLocks noGrp="1"/>
          </p:cNvSpPr>
          <p:nvPr>
            <p:ph idx="1"/>
          </p:nvPr>
        </p:nvSpPr>
        <p:spPr>
          <a:xfrm>
            <a:off x="913795" y="1647825"/>
            <a:ext cx="10353762" cy="4143375"/>
          </a:xfrm>
        </p:spPr>
        <p:txBody>
          <a:bodyPr/>
          <a:lstStyle/>
          <a:p>
            <a:pPr marL="0" indent="0">
              <a:buNone/>
            </a:pPr>
            <a:r>
              <a:rPr lang="en-US" sz="2400" b="1" dirty="0">
                <a:solidFill>
                  <a:schemeClr val="bg2">
                    <a:lumMod val="60000"/>
                    <a:lumOff val="40000"/>
                  </a:schemeClr>
                </a:solidFill>
              </a:rPr>
              <a:t>Chart Question 1</a:t>
            </a:r>
          </a:p>
          <a:p>
            <a:pPr marL="0" indent="0">
              <a:buNone/>
            </a:pPr>
            <a:r>
              <a:rPr lang="en-US" sz="2400" dirty="0"/>
              <a:t>Which country has the highest average temperature?</a:t>
            </a:r>
          </a:p>
          <a:p>
            <a:pPr marL="0" indent="0">
              <a:buNone/>
            </a:pPr>
            <a:endParaRPr lang="en-US" sz="2400" b="1" dirty="0"/>
          </a:p>
          <a:p>
            <a:pPr marL="0" indent="0">
              <a:buNone/>
            </a:pPr>
            <a:r>
              <a:rPr lang="en-US" b="1" dirty="0"/>
              <a:t>Chart Type:</a:t>
            </a:r>
            <a:r>
              <a:rPr lang="en-US" dirty="0"/>
              <a:t> </a:t>
            </a:r>
            <a:r>
              <a:rPr lang="en-US" sz="1800" dirty="0"/>
              <a:t>Bar Chart</a:t>
            </a:r>
            <a:br>
              <a:rPr lang="en-US" dirty="0"/>
            </a:br>
            <a:r>
              <a:rPr lang="en-US" b="1" dirty="0"/>
              <a:t>X-axis:</a:t>
            </a:r>
            <a:r>
              <a:rPr lang="en-US" dirty="0"/>
              <a:t> </a:t>
            </a:r>
            <a:r>
              <a:rPr lang="en-US" sz="1800" dirty="0"/>
              <a:t>Country</a:t>
            </a:r>
            <a:br>
              <a:rPr lang="en-US" dirty="0"/>
            </a:br>
            <a:r>
              <a:rPr lang="en-US" b="1" dirty="0"/>
              <a:t>Y-axis:</a:t>
            </a:r>
            <a:r>
              <a:rPr lang="en-US" dirty="0"/>
              <a:t> </a:t>
            </a:r>
            <a:r>
              <a:rPr lang="en-US" sz="1800" dirty="0"/>
              <a:t>Average Temperature (°C)</a:t>
            </a:r>
            <a:br>
              <a:rPr lang="en-US" sz="1800" dirty="0"/>
            </a:br>
            <a:r>
              <a:rPr lang="en-US" b="1" dirty="0"/>
              <a:t>Insight:</a:t>
            </a:r>
            <a:r>
              <a:rPr lang="en-US" sz="1800" dirty="0"/>
              <a:t> Highlights the hottest countries globally</a:t>
            </a:r>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00" y="2974146"/>
            <a:ext cx="4229100" cy="28170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4245" y="724464"/>
            <a:ext cx="10353762" cy="3695136"/>
          </a:xfrm>
        </p:spPr>
        <p:txBody>
          <a:bodyPr/>
          <a:lstStyle/>
          <a:p>
            <a:pPr marL="0" indent="0">
              <a:buNone/>
            </a:pPr>
            <a:r>
              <a:rPr lang="en-US" sz="2400" b="1" dirty="0">
                <a:solidFill>
                  <a:schemeClr val="bg2">
                    <a:lumMod val="60000"/>
                    <a:lumOff val="40000"/>
                  </a:schemeClr>
                </a:solidFill>
              </a:rPr>
              <a:t>Chart Question 2</a:t>
            </a:r>
          </a:p>
          <a:p>
            <a:pPr marL="0" indent="0">
              <a:buNone/>
            </a:pPr>
            <a:r>
              <a:rPr lang="en-US" dirty="0"/>
              <a:t> </a:t>
            </a:r>
            <a:r>
              <a:rPr lang="en-US" sz="2400" dirty="0"/>
              <a:t>Which locations have the highest average humidity levels?</a:t>
            </a:r>
          </a:p>
          <a:p>
            <a:pPr marL="0" indent="0">
              <a:buNone/>
            </a:pPr>
            <a:r>
              <a:rPr lang="en-US" b="1" dirty="0"/>
              <a:t>Chart Type:</a:t>
            </a:r>
            <a:r>
              <a:rPr lang="en-US" dirty="0"/>
              <a:t> Column Chart</a:t>
            </a:r>
            <a:br>
              <a:rPr lang="en-US" dirty="0"/>
            </a:br>
            <a:r>
              <a:rPr lang="en-US" b="1" dirty="0"/>
              <a:t>X-axis:</a:t>
            </a:r>
            <a:r>
              <a:rPr lang="en-US" dirty="0"/>
              <a:t> Location Name</a:t>
            </a:r>
            <a:br>
              <a:rPr lang="en-US" dirty="0"/>
            </a:br>
            <a:r>
              <a:rPr lang="en-US" b="1" dirty="0"/>
              <a:t>Y-axis: </a:t>
            </a:r>
            <a:r>
              <a:rPr lang="en-US" dirty="0"/>
              <a:t>Average Humidity</a:t>
            </a:r>
            <a:br>
              <a:rPr lang="en-US" dirty="0"/>
            </a:br>
            <a:r>
              <a:rPr lang="en-US" b="1" dirty="0"/>
              <a:t>Insight:</a:t>
            </a:r>
            <a:r>
              <a:rPr lang="en-US" dirty="0"/>
              <a:t> Identifies areas with high humidity across locations</a:t>
            </a:r>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8987" y="3666260"/>
            <a:ext cx="5534025" cy="26964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71195" y="346710"/>
            <a:ext cx="10364470" cy="4019550"/>
          </a:xfrm>
        </p:spPr>
        <p:txBody>
          <a:bodyPr>
            <a:normAutofit/>
          </a:bodyPr>
          <a:lstStyle/>
          <a:p>
            <a:pPr marL="0" indent="0">
              <a:buNone/>
            </a:pPr>
            <a:r>
              <a:rPr lang="en-US" altLang="en-US" sz="2665" b="1">
                <a:solidFill>
                  <a:schemeClr val="bg2">
                    <a:lumMod val="60000"/>
                    <a:lumOff val="40000"/>
                  </a:schemeClr>
                </a:solidFill>
                <a:cs typeface="+mn-lt"/>
              </a:rPr>
              <a:t>Chart Question 3</a:t>
            </a:r>
          </a:p>
          <a:p>
            <a:pPr marL="0" indent="0">
              <a:buNone/>
            </a:pPr>
            <a:r>
              <a:rPr lang="en-US" altLang="en-US" sz="2400"/>
              <a:t>Which countries experience the highest wind speeds?</a:t>
            </a:r>
            <a:endParaRPr lang="en-US" altLang="en-US"/>
          </a:p>
          <a:p>
            <a:pPr marL="0" indent="0">
              <a:buNone/>
            </a:pPr>
            <a:endParaRPr lang="en-US" altLang="en-US" b="1"/>
          </a:p>
          <a:p>
            <a:pPr marL="0" indent="0">
              <a:buNone/>
            </a:pPr>
            <a:r>
              <a:rPr lang="en-US" altLang="en-US" b="1"/>
              <a:t>Chart Type: </a:t>
            </a:r>
            <a:r>
              <a:rPr lang="en-US" altLang="en-US"/>
              <a:t>Bar Chart</a:t>
            </a:r>
          </a:p>
          <a:p>
            <a:pPr marL="0" indent="0">
              <a:buNone/>
            </a:pPr>
            <a:r>
              <a:rPr lang="en-US" altLang="en-US" b="1"/>
              <a:t>X-axis: </a:t>
            </a:r>
            <a:r>
              <a:rPr lang="en-US" altLang="en-US"/>
              <a:t>Country</a:t>
            </a:r>
          </a:p>
          <a:p>
            <a:pPr marL="0" indent="0">
              <a:buNone/>
            </a:pPr>
            <a:r>
              <a:rPr lang="en-US" altLang="en-US" b="1"/>
              <a:t>Y-axis:</a:t>
            </a:r>
            <a:r>
              <a:rPr lang="en-US" altLang="en-US"/>
              <a:t> Average Wind Speed (kph)</a:t>
            </a:r>
          </a:p>
          <a:p>
            <a:pPr marL="0" indent="0">
              <a:buNone/>
            </a:pPr>
            <a:r>
              <a:rPr lang="en-US" altLang="en-US" b="1"/>
              <a:t>Insight:</a:t>
            </a:r>
            <a:r>
              <a:rPr lang="en-US" altLang="en-US"/>
              <a:t> Highlights countries with strong wind conditions</a:t>
            </a:r>
          </a:p>
        </p:txBody>
      </p:sp>
      <p:pic>
        <p:nvPicPr>
          <p:cNvPr id="7" name="Picture 6" descr="Screenshot 2026-03-19 120338"/>
          <p:cNvPicPr>
            <a:picLocks noChangeAspect="1"/>
          </p:cNvPicPr>
          <p:nvPr/>
        </p:nvPicPr>
        <p:blipFill>
          <a:blip r:embed="rId2"/>
          <a:stretch>
            <a:fillRect/>
          </a:stretch>
        </p:blipFill>
        <p:spPr>
          <a:xfrm>
            <a:off x="8027035" y="3071495"/>
            <a:ext cx="3710940" cy="31102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86160" y="601909"/>
            <a:ext cx="10353762" cy="3695136"/>
          </a:xfrm>
        </p:spPr>
        <p:txBody>
          <a:bodyPr>
            <a:normAutofit lnSpcReduction="20000"/>
          </a:bodyPr>
          <a:lstStyle/>
          <a:p>
            <a:pPr marL="0" indent="0">
              <a:buNone/>
            </a:pPr>
            <a:r>
              <a:rPr lang="en-US" altLang="en-US" sz="2400" b="1">
                <a:solidFill>
                  <a:schemeClr val="bg2">
                    <a:lumMod val="60000"/>
                    <a:lumOff val="40000"/>
                  </a:schemeClr>
                </a:solidFill>
              </a:rPr>
              <a:t>Chart Question 4</a:t>
            </a:r>
          </a:p>
          <a:p>
            <a:pPr marL="0" indent="0">
              <a:buNone/>
            </a:pPr>
            <a:r>
              <a:rPr lang="en-US" altLang="en-US" sz="2400"/>
              <a:t>Which country records the highest total rainfall (precipitation)?</a:t>
            </a:r>
          </a:p>
          <a:p>
            <a:pPr marL="0" indent="0">
              <a:buNone/>
            </a:pPr>
            <a:endParaRPr lang="en-US" altLang="en-US" sz="2400"/>
          </a:p>
          <a:p>
            <a:pPr marL="0" indent="0">
              <a:buNone/>
            </a:pPr>
            <a:r>
              <a:rPr lang="en-US" altLang="en-US" b="1"/>
              <a:t>Chart Type: </a:t>
            </a:r>
            <a:r>
              <a:rPr lang="en-US" altLang="en-US"/>
              <a:t>Bar Chart</a:t>
            </a:r>
          </a:p>
          <a:p>
            <a:pPr marL="0" indent="0">
              <a:buNone/>
            </a:pPr>
            <a:r>
              <a:rPr lang="en-US" altLang="en-US" b="1"/>
              <a:t>X-axis: </a:t>
            </a:r>
            <a:r>
              <a:rPr lang="en-US" altLang="en-US"/>
              <a:t>Country</a:t>
            </a:r>
          </a:p>
          <a:p>
            <a:pPr marL="0" indent="0">
              <a:buNone/>
            </a:pPr>
            <a:r>
              <a:rPr lang="en-US" altLang="en-US" b="1"/>
              <a:t>Y-axis:</a:t>
            </a:r>
            <a:r>
              <a:rPr lang="en-US" altLang="en-US"/>
              <a:t> Total Precipitation (mm)</a:t>
            </a:r>
          </a:p>
          <a:p>
            <a:pPr marL="0" indent="0">
              <a:buNone/>
            </a:pPr>
            <a:r>
              <a:rPr lang="en-US" altLang="en-US" b="1"/>
              <a:t>Insight: </a:t>
            </a:r>
            <a:r>
              <a:rPr lang="en-US" altLang="en-US"/>
              <a:t>Identifies countries with the highest rainfall levels</a:t>
            </a:r>
          </a:p>
        </p:txBody>
      </p:sp>
      <p:pic>
        <p:nvPicPr>
          <p:cNvPr id="6" name="Picture 5" descr="Screenshot 2026-03-19 112346"/>
          <p:cNvPicPr>
            <a:picLocks noChangeAspect="1"/>
          </p:cNvPicPr>
          <p:nvPr/>
        </p:nvPicPr>
        <p:blipFill>
          <a:blip r:embed="rId2"/>
          <a:stretch>
            <a:fillRect/>
          </a:stretch>
        </p:blipFill>
        <p:spPr>
          <a:xfrm>
            <a:off x="7903845" y="2540000"/>
            <a:ext cx="3747770" cy="39008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9130" y="416560"/>
            <a:ext cx="10341610" cy="5721985"/>
          </a:xfrm>
        </p:spPr>
        <p:txBody>
          <a:bodyPr/>
          <a:lstStyle/>
          <a:p>
            <a:pPr marL="0" indent="0">
              <a:buNone/>
            </a:pPr>
            <a:r>
              <a:rPr lang="en-US" altLang="en-US" sz="2400" b="1">
                <a:solidFill>
                  <a:schemeClr val="bg2">
                    <a:lumMod val="60000"/>
                    <a:lumOff val="40000"/>
                  </a:schemeClr>
                </a:solidFill>
              </a:rPr>
              <a:t>Chart Question 5</a:t>
            </a:r>
            <a:endParaRPr lang="en-US" altLang="en-US" b="1"/>
          </a:p>
          <a:p>
            <a:pPr marL="0" indent="0">
              <a:buNone/>
            </a:pPr>
            <a:r>
              <a:rPr lang="en-US" altLang="en-US" sz="2400">
                <a:solidFill>
                  <a:schemeClr val="tx1"/>
                </a:solidFill>
              </a:rPr>
              <a:t>Which locations have the highest temperature?</a:t>
            </a:r>
            <a:endParaRPr lang="en-US" altLang="en-US" sz="2400">
              <a:solidFill>
                <a:schemeClr val="bg2">
                  <a:lumMod val="60000"/>
                  <a:lumOff val="40000"/>
                </a:schemeClr>
              </a:solidFill>
            </a:endParaRPr>
          </a:p>
          <a:p>
            <a:pPr marL="0" indent="0">
              <a:buNone/>
            </a:pPr>
            <a:endParaRPr lang="en-US" altLang="en-US" b="1"/>
          </a:p>
          <a:p>
            <a:pPr marL="0" indent="0">
              <a:buNone/>
            </a:pPr>
            <a:r>
              <a:rPr lang="en-US" altLang="en-US" b="1"/>
              <a:t>Chart Type: </a:t>
            </a:r>
            <a:r>
              <a:rPr lang="en-US" altLang="en-US"/>
              <a:t>Column Chart</a:t>
            </a:r>
          </a:p>
          <a:p>
            <a:pPr marL="0" indent="0">
              <a:buNone/>
            </a:pPr>
            <a:r>
              <a:rPr lang="en-US" altLang="en-US" b="1"/>
              <a:t>X-axis: </a:t>
            </a:r>
            <a:r>
              <a:rPr lang="en-US" altLang="en-US"/>
              <a:t>Location Name</a:t>
            </a:r>
          </a:p>
          <a:p>
            <a:pPr marL="0" indent="0">
              <a:buNone/>
            </a:pPr>
            <a:r>
              <a:rPr lang="en-US" altLang="en-US" b="1"/>
              <a:t>Y-axis: </a:t>
            </a:r>
            <a:r>
              <a:rPr lang="en-US" altLang="en-US"/>
              <a:t>Maximum Temperature (</a:t>
            </a:r>
            <a:r>
              <a:rPr lang="" altLang="en-US"/>
              <a:t>°</a:t>
            </a:r>
            <a:r>
              <a:rPr lang="en-US" altLang="en-US"/>
              <a:t>C)</a:t>
            </a:r>
          </a:p>
          <a:p>
            <a:pPr marL="0" indent="0">
              <a:buNone/>
            </a:pPr>
            <a:r>
              <a:rPr lang="en-US" altLang="en-US" b="1"/>
              <a:t>Insight:</a:t>
            </a:r>
            <a:r>
              <a:rPr lang="en-US" altLang="en-US"/>
              <a:t> Identifies locations with the highest recorded temperatures</a:t>
            </a:r>
          </a:p>
        </p:txBody>
      </p:sp>
      <p:pic>
        <p:nvPicPr>
          <p:cNvPr id="9" name="Picture 8" descr="Screenshot 2026-03-19 120721"/>
          <p:cNvPicPr>
            <a:picLocks noChangeAspect="1"/>
          </p:cNvPicPr>
          <p:nvPr/>
        </p:nvPicPr>
        <p:blipFill>
          <a:blip r:embed="rId2"/>
          <a:stretch>
            <a:fillRect/>
          </a:stretch>
        </p:blipFill>
        <p:spPr>
          <a:xfrm>
            <a:off x="3834765" y="4127500"/>
            <a:ext cx="4452620" cy="22898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1345" y="289560"/>
            <a:ext cx="10666095" cy="5501640"/>
          </a:xfrm>
        </p:spPr>
        <p:txBody>
          <a:bodyPr/>
          <a:lstStyle/>
          <a:p>
            <a:pPr marL="0" indent="0">
              <a:buNone/>
            </a:pPr>
            <a:r>
              <a:rPr lang="en-US" altLang="en-US" sz="2400" b="1">
                <a:solidFill>
                  <a:schemeClr val="bg2">
                    <a:lumMod val="60000"/>
                    <a:lumOff val="40000"/>
                  </a:schemeClr>
                </a:solidFill>
              </a:rPr>
              <a:t>Chart Question 6</a:t>
            </a:r>
            <a:endParaRPr lang="en-US" altLang="en-US" b="1"/>
          </a:p>
          <a:p>
            <a:pPr marL="0" indent="0">
              <a:buNone/>
            </a:pPr>
            <a:r>
              <a:rPr lang="en-US" altLang="en-US" sz="2400"/>
              <a:t>What is the percentage distribution of humidity by country?</a:t>
            </a:r>
          </a:p>
          <a:p>
            <a:pPr marL="0" indent="0">
              <a:buNone/>
            </a:pPr>
            <a:endParaRPr lang="en-US" altLang="en-US"/>
          </a:p>
          <a:p>
            <a:pPr marL="0" indent="0">
              <a:buNone/>
            </a:pPr>
            <a:r>
              <a:rPr lang="en-US" altLang="en-US"/>
              <a:t>Chart Type: Pie Chart / Donut Chart</a:t>
            </a:r>
          </a:p>
          <a:p>
            <a:pPr marL="0" indent="0">
              <a:buNone/>
            </a:pPr>
            <a:r>
              <a:rPr lang="en-US" altLang="en-US"/>
              <a:t>X-axis: Country</a:t>
            </a:r>
          </a:p>
          <a:p>
            <a:pPr marL="0" indent="0">
              <a:buNone/>
            </a:pPr>
            <a:r>
              <a:rPr lang="en-US" altLang="en-US"/>
              <a:t>Y-axis: Average Humidity (%)</a:t>
            </a:r>
          </a:p>
          <a:p>
            <a:pPr marL="0" indent="0">
              <a:buNone/>
            </a:pPr>
            <a:r>
              <a:rPr lang="en-US" altLang="en-US"/>
              <a:t>Insight: Shows how humidity is distributed across countries</a:t>
            </a:r>
          </a:p>
        </p:txBody>
      </p:sp>
      <p:pic>
        <p:nvPicPr>
          <p:cNvPr id="8" name="Picture 7" descr="Screenshot 2026-03-19 120533"/>
          <p:cNvPicPr>
            <a:picLocks noChangeAspect="1"/>
          </p:cNvPicPr>
          <p:nvPr/>
        </p:nvPicPr>
        <p:blipFill>
          <a:blip r:embed="rId2"/>
          <a:stretch>
            <a:fillRect/>
          </a:stretch>
        </p:blipFill>
        <p:spPr>
          <a:xfrm>
            <a:off x="3818890" y="4210050"/>
            <a:ext cx="5565140" cy="2514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29920" y="370205"/>
            <a:ext cx="10932795" cy="6081395"/>
          </a:xfrm>
        </p:spPr>
        <p:txBody>
          <a:bodyPr/>
          <a:lstStyle/>
          <a:p>
            <a:pPr marL="0" indent="0">
              <a:buNone/>
            </a:pPr>
            <a:r>
              <a:rPr lang="en-US" altLang="en-US" sz="2400" b="1">
                <a:solidFill>
                  <a:schemeClr val="bg2">
                    <a:lumMod val="60000"/>
                    <a:lumOff val="40000"/>
                  </a:schemeClr>
                </a:solidFill>
              </a:rPr>
              <a:t>Chart Question 7</a:t>
            </a:r>
          </a:p>
          <a:p>
            <a:pPr marL="0" indent="0">
              <a:buNone/>
            </a:pPr>
            <a:r>
              <a:rPr lang="en-US" altLang="en-US" sz="2400"/>
              <a:t>How does wind speed vary across different locations?</a:t>
            </a:r>
          </a:p>
          <a:p>
            <a:pPr marL="0" indent="0">
              <a:buNone/>
            </a:pPr>
            <a:endParaRPr lang="en-US" altLang="en-US"/>
          </a:p>
          <a:p>
            <a:pPr marL="0" indent="0">
              <a:buNone/>
            </a:pPr>
            <a:r>
              <a:rPr lang="en-US" altLang="en-US" b="1"/>
              <a:t>Chart Type: </a:t>
            </a:r>
            <a:r>
              <a:rPr lang="en-US" altLang="en-US"/>
              <a:t>Column Chart</a:t>
            </a:r>
          </a:p>
          <a:p>
            <a:pPr marL="0" indent="0">
              <a:buNone/>
            </a:pPr>
            <a:r>
              <a:rPr lang="en-US" altLang="en-US" b="1"/>
              <a:t>X-axis: </a:t>
            </a:r>
            <a:r>
              <a:rPr lang="en-US" altLang="en-US"/>
              <a:t>Location Name</a:t>
            </a:r>
          </a:p>
          <a:p>
            <a:pPr marL="0" indent="0">
              <a:buNone/>
            </a:pPr>
            <a:r>
              <a:rPr lang="en-US" altLang="en-US" b="1"/>
              <a:t>Y-axis: </a:t>
            </a:r>
            <a:r>
              <a:rPr lang="en-US" altLang="en-US"/>
              <a:t>Average Wind Speed (kph)</a:t>
            </a:r>
          </a:p>
          <a:p>
            <a:pPr marL="0" indent="0">
              <a:buNone/>
            </a:pPr>
            <a:r>
              <a:rPr lang="en-US" altLang="en-US" b="1"/>
              <a:t>Insight:</a:t>
            </a:r>
            <a:r>
              <a:rPr lang="en-US" altLang="en-US"/>
              <a:t> Shows variation in wind speed across locations</a:t>
            </a:r>
          </a:p>
        </p:txBody>
      </p:sp>
      <p:pic>
        <p:nvPicPr>
          <p:cNvPr id="6" name="Picture 5" descr="Screenshot 2026-03-19 121102"/>
          <p:cNvPicPr>
            <a:picLocks noChangeAspect="1"/>
          </p:cNvPicPr>
          <p:nvPr/>
        </p:nvPicPr>
        <p:blipFill>
          <a:blip r:embed="rId2"/>
          <a:stretch>
            <a:fillRect/>
          </a:stretch>
        </p:blipFill>
        <p:spPr>
          <a:xfrm>
            <a:off x="3012440" y="4171950"/>
            <a:ext cx="4686300" cy="24009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240" y="295275"/>
            <a:ext cx="10364470" cy="6184900"/>
          </a:xfrm>
        </p:spPr>
        <p:txBody>
          <a:bodyPr/>
          <a:lstStyle/>
          <a:p>
            <a:pPr marL="0" indent="0">
              <a:buNone/>
            </a:pPr>
            <a:r>
              <a:rPr lang="en-US" altLang="en-US" sz="2400" b="1">
                <a:solidFill>
                  <a:schemeClr val="bg2">
                    <a:lumMod val="60000"/>
                    <a:lumOff val="40000"/>
                  </a:schemeClr>
                </a:solidFill>
              </a:rPr>
              <a:t>Chart Question 8</a:t>
            </a:r>
            <a:endParaRPr lang="en-US" altLang="en-US"/>
          </a:p>
          <a:p>
            <a:pPr marL="0" indent="0">
              <a:buNone/>
            </a:pPr>
            <a:r>
              <a:rPr lang="en-US" altLang="en-US" sz="2400"/>
              <a:t>How does precipitation differ between locations?</a:t>
            </a:r>
          </a:p>
          <a:p>
            <a:pPr marL="0" indent="0">
              <a:buNone/>
            </a:pPr>
            <a:endParaRPr lang="en-US" altLang="en-US" b="1"/>
          </a:p>
          <a:p>
            <a:pPr marL="0" indent="0">
              <a:buNone/>
            </a:pPr>
            <a:r>
              <a:rPr lang="en-US" altLang="en-US" b="1"/>
              <a:t>Chart Type: </a:t>
            </a:r>
            <a:r>
              <a:rPr lang="en-US" altLang="en-US"/>
              <a:t>Column Chart</a:t>
            </a:r>
          </a:p>
          <a:p>
            <a:pPr marL="0" indent="0">
              <a:buNone/>
            </a:pPr>
            <a:r>
              <a:rPr lang="en-US" altLang="en-US" b="1"/>
              <a:t>X-axis:</a:t>
            </a:r>
            <a:r>
              <a:rPr lang="en-US" altLang="en-US"/>
              <a:t> Location Name</a:t>
            </a:r>
          </a:p>
          <a:p>
            <a:pPr marL="0" indent="0">
              <a:buNone/>
            </a:pPr>
            <a:r>
              <a:rPr lang="en-US" altLang="en-US" b="1"/>
              <a:t>Y-axis: </a:t>
            </a:r>
            <a:r>
              <a:rPr lang="en-US" altLang="en-US"/>
              <a:t>Total Precipitation (mm)</a:t>
            </a:r>
          </a:p>
          <a:p>
            <a:pPr marL="0" indent="0">
              <a:buNone/>
            </a:pPr>
            <a:r>
              <a:rPr lang="en-US" altLang="en-US" b="1"/>
              <a:t>Insight: </a:t>
            </a:r>
            <a:r>
              <a:rPr lang="en-US" altLang="en-US"/>
              <a:t>Compares rainfall levels across different locations</a:t>
            </a:r>
          </a:p>
        </p:txBody>
      </p:sp>
      <p:pic>
        <p:nvPicPr>
          <p:cNvPr id="6" name="Picture 5" descr="Screenshot 2026-03-19 121144"/>
          <p:cNvPicPr>
            <a:picLocks noChangeAspect="1"/>
          </p:cNvPicPr>
          <p:nvPr/>
        </p:nvPicPr>
        <p:blipFill>
          <a:blip r:embed="rId2"/>
          <a:stretch>
            <a:fillRect/>
          </a:stretch>
        </p:blipFill>
        <p:spPr>
          <a:xfrm>
            <a:off x="4174490" y="4043680"/>
            <a:ext cx="4676140" cy="26822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765" y="367030"/>
            <a:ext cx="10353675" cy="1346835"/>
          </a:xfrm>
        </p:spPr>
        <p:txBody>
          <a:bodyPr/>
          <a:lstStyle/>
          <a:p>
            <a:r>
              <a:rPr lang="en-US">
                <a:solidFill>
                  <a:schemeClr val="bg2">
                    <a:lumMod val="60000"/>
                    <a:lumOff val="40000"/>
                  </a:schemeClr>
                </a:solidFill>
              </a:rPr>
              <a:t>conclusion</a:t>
            </a:r>
          </a:p>
        </p:txBody>
      </p:sp>
      <p:sp>
        <p:nvSpPr>
          <p:cNvPr id="5" name="Content Placeholder 4"/>
          <p:cNvSpPr>
            <a:spLocks noGrp="1"/>
          </p:cNvSpPr>
          <p:nvPr>
            <p:ph idx="1"/>
          </p:nvPr>
        </p:nvSpPr>
        <p:spPr>
          <a:xfrm>
            <a:off x="913130" y="1714500"/>
            <a:ext cx="10354310" cy="4586605"/>
          </a:xfrm>
        </p:spPr>
        <p:txBody>
          <a:bodyPr>
            <a:normAutofit lnSpcReduction="10000"/>
          </a:bodyPr>
          <a:lstStyle/>
          <a:p>
            <a:pPr marL="0" indent="0" algn="l">
              <a:buNone/>
            </a:pPr>
            <a:r>
              <a:rPr lang="en-US" altLang="en-US" sz="2400"/>
              <a:t>This project provided valuable insights into global weather patterns by analyzing key metrics such as temperature, humidity, wind speed, and precipitation. The dashboard effectively highlights variations across countries and locations, helping to identify trends and extreme conditions. </a:t>
            </a:r>
          </a:p>
          <a:p>
            <a:pPr marL="0" indent="0" algn="l">
              <a:buNone/>
            </a:pPr>
            <a:r>
              <a:rPr lang="en-US" altLang="en-US" sz="2400"/>
              <a:t>Overall, the analysis demonstrates the importance of data-driven visualization in understanding weather behavior and supporting better decision-making.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29360" y="657225"/>
            <a:ext cx="9733280" cy="3118485"/>
          </a:xfrm>
        </p:spPr>
        <p:txBody>
          <a:bodyPr/>
          <a:lstStyle/>
          <a:p>
            <a:r>
              <a:rPr lang="en-US" sz="8000"/>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TotalTime>
  <Words>690</Words>
  <Application>Microsoft Office PowerPoint</Application>
  <PresentationFormat>Widescreen</PresentationFormat>
  <Paragraphs>128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Black</vt:lpstr>
      <vt:lpstr>Bookman Old Style</vt:lpstr>
      <vt:lpstr>Rockwell</vt:lpstr>
      <vt:lpstr>Wingdings</vt:lpstr>
      <vt:lpstr>Damask</vt:lpstr>
      <vt:lpstr>GLOBAL WEATHER DATA ANALYSIS</vt:lpstr>
      <vt:lpstr>INTRODUCTION</vt:lpstr>
      <vt:lpstr>PROBLEM STATEMENT</vt:lpstr>
      <vt:lpstr>BUSINESS PROBLEM</vt:lpstr>
      <vt:lpstr>DATA OVERVIEW</vt:lpstr>
      <vt:lpstr>TECHNOLOGY USED</vt:lpstr>
      <vt:lpstr>DATA MODELLING</vt:lpstr>
      <vt:lpstr>KPI (KEY PERFORMANCE INDICATORS)</vt:lpstr>
      <vt:lpstr>PowerPoint Presentation</vt:lpstr>
      <vt:lpstr>DASHBOARD OVERVIEW</vt:lpstr>
      <vt:lpstr>GLOBAL WEATHER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WEATHER DATA ANALYSIS</dc:title>
  <dc:creator>Anudip1</dc:creator>
  <cp:lastModifiedBy>Anudip1</cp:lastModifiedBy>
  <cp:revision>18</cp:revision>
  <dcterms:created xsi:type="dcterms:W3CDTF">2026-03-18T07:06:00Z</dcterms:created>
  <dcterms:modified xsi:type="dcterms:W3CDTF">2026-03-19T10:25:09Z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8BB27A14122C4A09B2FE7AE948DBE027_12</vt:lpwstr>
  </property>
</Properties>
</file>